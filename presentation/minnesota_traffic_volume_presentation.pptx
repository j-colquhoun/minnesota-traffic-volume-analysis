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0"/>
  </p:normalViewPr>
  <p:slideViewPr>
    <p:cSldViewPr snapToGrid="0">
      <p:cViewPr varScale="1">
        <p:scale>
          <a:sx n="119" d="100"/>
          <a:sy n="119" d="100"/>
        </p:scale>
        <p:origin x="5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project as an analysis of how traffic volume changes across time, holidays, and weather conditions.</a:t>
            </a:r>
          </a:p>
          <a:p>
            <a:endParaRPr/>
          </a:p>
          <a:p>
            <a:r>
              <a:t>[Sources]</a:t>
            </a:r>
          </a:p>
          <a:p>
            <a:r>
              <a:t>- User-provided Minnesota Interstate Traffic Volume Dashboard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Frame the project around operational decision-making. The goal is not only to display traffic counts, but to reveal useful patterns for planning.</a:t>
            </a:r>
          </a:p>
          <a:p>
            <a:endParaRPr/>
          </a:p>
          <a:p>
            <a:r>
              <a:t>[Sources]</a:t>
            </a:r>
          </a:p>
          <a:p>
            <a:r>
              <a:t>- User-provided Minnesota Interstate Traffic Volume Dashboard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that the project used Tableau and centered on three metrics/views: time of day, holiday, and weather. Mention that filters make the dashboard interactive.</a:t>
            </a:r>
          </a:p>
          <a:p>
            <a:endParaRPr/>
          </a:p>
          <a:p>
            <a:r>
              <a:t>[Sources]</a:t>
            </a:r>
          </a:p>
          <a:p>
            <a:r>
              <a:t>- User-provided Minnesota Interstate Traffic Volume Dashboard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through the three views. Treat the statements as directional insights visible in the dashboard rather than exact estimates.</a:t>
            </a:r>
          </a:p>
          <a:p>
            <a:endParaRPr/>
          </a:p>
          <a:p>
            <a:r>
              <a:t>[Sources]</a:t>
            </a:r>
          </a:p>
          <a:p>
            <a:r>
              <a:t>- User-provided Minnesota Interstate Traffic Volume Dashboard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by translating the analysis into operational actions and suggesting useful variables for a future version of the dashboard.</a:t>
            </a:r>
          </a:p>
          <a:p>
            <a:endParaRPr/>
          </a:p>
          <a:p>
            <a:r>
              <a:t>[Sources]</a:t>
            </a:r>
          </a:p>
          <a:p>
            <a:r>
              <a:t>- User-provided Minnesota Interstate Traffic Volume Dashboard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ccent">
            <a:extLst>
              <a:ext uri="{FF2B5EF4-FFF2-40B4-BE49-F238E27FC236}">
                <a16:creationId xmlns:a16="http://schemas.microsoft.com/office/drawing/2014/main" id="{0720F8E1-6155-4836-8182-FCAA689B60D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9550" cy="6858000"/>
          </a:xfrm>
          <a:prstGeom prst="rect">
            <a:avLst/>
          </a:prstGeom>
          <a:solidFill>
            <a:srgbClr val="4E79A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eyebrow">
            <a:extLst>
              <a:ext uri="{FF2B5EF4-FFF2-40B4-BE49-F238E27FC236}">
                <a16:creationId xmlns:a16="http://schemas.microsoft.com/office/drawing/2014/main" id="{69038B52-3341-4A9E-882C-A5FA3AF7F8DE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590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4E79A7"/>
                </a:solidFill>
                <a:latin typeface="Arial"/>
                <a:ea typeface="Arial"/>
                <a:cs typeface="Arial"/>
              </a:defRPr>
            </a:pPr>
            <a:r>
              <a:rPr sz="1425" b="1" dirty="0">
                <a:solidFill>
                  <a:srgbClr val="4E79A7"/>
                </a:solidFill>
                <a:latin typeface="Arial"/>
                <a:ea typeface="Arial"/>
                <a:cs typeface="Arial"/>
              </a:rPr>
              <a:t>BUSINESS INTELLIGENCE PROJECT</a:t>
            </a:r>
          </a:p>
        </p:txBody>
      </p:sp>
      <p:sp>
        <p:nvSpPr>
          <p:cNvPr id="3" name="cover-title">
            <a:extLst>
              <a:ext uri="{FF2B5EF4-FFF2-40B4-BE49-F238E27FC236}">
                <a16:creationId xmlns:a16="http://schemas.microsoft.com/office/drawing/2014/main" id="{9369EAC1-69B1-4584-9769-0B58165FF433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7810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51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5100" b="1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Minnesota Interstate</a:t>
            </a:r>
          </a:p>
          <a:p>
            <a:pPr algn="l">
              <a:defRPr sz="51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5100" b="1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Traffic Volume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0B59B60F-57F3-4113-94BE-5CDA3669695D}"/>
              </a:ext>
            </a:extLst>
          </p:cNvPr>
          <p:cNvSpPr>
            <a:spLocks noGrp="1"/>
          </p:cNvSpPr>
          <p:nvPr/>
        </p:nvSpPr>
        <p:spPr>
          <a:xfrm>
            <a:off x="647700" y="3905250"/>
            <a:ext cx="685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0">
                <a:solidFill>
                  <a:srgbClr val="56657A"/>
                </a:solidFill>
                <a:latin typeface="Arial"/>
                <a:ea typeface="Arial"/>
                <a:cs typeface="Arial"/>
              </a:defRPr>
            </a:pPr>
            <a:r>
              <a:rPr sz="2100" b="0" dirty="0">
                <a:solidFill>
                  <a:srgbClr val="56657A"/>
                </a:solidFill>
                <a:latin typeface="Arial"/>
                <a:ea typeface="Arial"/>
                <a:cs typeface="Arial"/>
              </a:rPr>
              <a:t>Patterns by time, holiday, and weather</a:t>
            </a:r>
          </a:p>
        </p:txBody>
      </p:sp>
      <p:sp>
        <p:nvSpPr>
          <p:cNvPr id="5" name="author">
            <a:extLst>
              <a:ext uri="{FF2B5EF4-FFF2-40B4-BE49-F238E27FC236}">
                <a16:creationId xmlns:a16="http://schemas.microsoft.com/office/drawing/2014/main" id="{44F79808-5FC9-4098-AA4C-DCE727CDE0AC}"/>
              </a:ext>
            </a:extLst>
          </p:cNvPr>
          <p:cNvSpPr>
            <a:spLocks noGrp="1"/>
          </p:cNvSpPr>
          <p:nvPr/>
        </p:nvSpPr>
        <p:spPr>
          <a:xfrm>
            <a:off x="647700" y="5905500"/>
            <a:ext cx="3810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lang="en-US" sz="1650" b="1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Jahmoy </a:t>
            </a:r>
            <a:r>
              <a:rPr sz="1650" b="1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Colquhoun</a:t>
            </a:r>
          </a:p>
        </p:txBody>
      </p:sp>
    </p:spTree>
    <p:extLst>
      <p:ext uri="{BB962C8B-B14F-4D97-AF65-F5344CB8AC3E}">
        <p14:creationId xmlns:p14="http://schemas.microsoft.com/office/powerpoint/2010/main" val="801386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FE7E3BC5-A852-4924-A800-797FCC65575D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Traffic planning must anticipate changing demand</a:t>
            </a:r>
          </a:p>
        </p:txBody>
      </p:sp>
      <p:sp>
        <p:nvSpPr>
          <p:cNvPr id="2" name="num">
            <a:extLst>
              <a:ext uri="{FF2B5EF4-FFF2-40B4-BE49-F238E27FC236}">
                <a16:creationId xmlns:a16="http://schemas.microsoft.com/office/drawing/2014/main" id="{CBB51679-AD99-474A-B222-B15676D3D1CD}"/>
              </a:ext>
            </a:extLst>
          </p:cNvPr>
          <p:cNvSpPr>
            <a:spLocks noGrp="1"/>
          </p:cNvSpPr>
          <p:nvPr/>
        </p:nvSpPr>
        <p:spPr>
          <a:xfrm>
            <a:off x="11239500" y="63246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665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rule">
            <a:extLst>
              <a:ext uri="{FF2B5EF4-FFF2-40B4-BE49-F238E27FC236}">
                <a16:creationId xmlns:a16="http://schemas.microsoft.com/office/drawing/2014/main" id="{355E567A-12E9-4BA3-B5BA-B6B176D99BAE}"/>
              </a:ext>
            </a:extLst>
          </p:cNvPr>
          <p:cNvSpPr>
            <a:spLocks noGrp="1"/>
          </p:cNvSpPr>
          <p:nvPr/>
        </p:nvSpPr>
        <p:spPr>
          <a:xfrm>
            <a:off x="552450" y="1028700"/>
            <a:ext cx="11087100" cy="19050"/>
          </a:xfrm>
          <a:prstGeom prst="rect">
            <a:avLst/>
          </a:prstGeom>
          <a:solidFill>
            <a:srgbClr val="4E79A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lead">
            <a:extLst>
              <a:ext uri="{FF2B5EF4-FFF2-40B4-BE49-F238E27FC236}">
                <a16:creationId xmlns:a16="http://schemas.microsoft.com/office/drawing/2014/main" id="{4C224A45-A4BA-414A-A3DA-0AE13D820198}"/>
              </a:ext>
            </a:extLst>
          </p:cNvPr>
          <p:cNvSpPr>
            <a:spLocks noGrp="1"/>
          </p:cNvSpPr>
          <p:nvPr/>
        </p:nvSpPr>
        <p:spPr>
          <a:xfrm>
            <a:off x="552450" y="1381125"/>
            <a:ext cx="6477000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033"/>
                </a:solidFill>
                <a:latin typeface="Arial"/>
                <a:ea typeface="Arial"/>
                <a:cs typeface="Arial"/>
              </a:rPr>
              <a:t>Transportation teams need a clear view of when interstate demand rises or falls so they can plan operations and communicate travel risk.</a:t>
            </a:r>
          </a:p>
        </p:txBody>
      </p:sp>
      <p:sp>
        <p:nvSpPr>
          <p:cNvPr id="5" name="panel">
            <a:extLst>
              <a:ext uri="{FF2B5EF4-FFF2-40B4-BE49-F238E27FC236}">
                <a16:creationId xmlns:a16="http://schemas.microsoft.com/office/drawing/2014/main" id="{08E8A263-BA4D-4BD7-962F-A0FF6A776D32}"/>
              </a:ext>
            </a:extLst>
          </p:cNvPr>
          <p:cNvSpPr>
            <a:spLocks noGrp="1"/>
          </p:cNvSpPr>
          <p:nvPr/>
        </p:nvSpPr>
        <p:spPr>
          <a:xfrm>
            <a:off x="7620000" y="1428750"/>
            <a:ext cx="3619500" cy="3714750"/>
          </a:xfrm>
          <a:prstGeom prst="roundRect">
            <a:avLst>
              <a:gd name="adj" fmla="val 2105"/>
            </a:avLst>
          </a:prstGeom>
          <a:solidFill>
            <a:srgbClr val="EAF2F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question-label">
            <a:extLst>
              <a:ext uri="{FF2B5EF4-FFF2-40B4-BE49-F238E27FC236}">
                <a16:creationId xmlns:a16="http://schemas.microsoft.com/office/drawing/2014/main" id="{30C42B0A-8E6D-4DF3-862F-F3E2789D94E3}"/>
              </a:ext>
            </a:extLst>
          </p:cNvPr>
          <p:cNvSpPr>
            <a:spLocks noGrp="1"/>
          </p:cNvSpPr>
          <p:nvPr/>
        </p:nvSpPr>
        <p:spPr>
          <a:xfrm>
            <a:off x="7953375" y="1762125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4E79A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E79A7"/>
                </a:solidFill>
                <a:latin typeface="Arial"/>
                <a:ea typeface="Arial"/>
                <a:cs typeface="Arial"/>
              </a:rPr>
              <a:t>BUSINESS QUESTIONS</a:t>
            </a:r>
          </a:p>
        </p:txBody>
      </p:sp>
      <p:sp>
        <p:nvSpPr>
          <p:cNvPr id="7" name="q1">
            <a:extLst>
              <a:ext uri="{FF2B5EF4-FFF2-40B4-BE49-F238E27FC236}">
                <a16:creationId xmlns:a16="http://schemas.microsoft.com/office/drawing/2014/main" id="{22157CE7-C42A-43F9-B9FC-E8CF47AC2F84}"/>
              </a:ext>
            </a:extLst>
          </p:cNvPr>
          <p:cNvSpPr>
            <a:spLocks noGrp="1"/>
          </p:cNvSpPr>
          <p:nvPr/>
        </p:nvSpPr>
        <p:spPr>
          <a:xfrm>
            <a:off x="7953375" y="2286000"/>
            <a:ext cx="2762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1  When does traffic volume change most across the day?</a:t>
            </a:r>
          </a:p>
        </p:txBody>
      </p:sp>
      <p:sp>
        <p:nvSpPr>
          <p:cNvPr id="8" name="q2">
            <a:extLst>
              <a:ext uri="{FF2B5EF4-FFF2-40B4-BE49-F238E27FC236}">
                <a16:creationId xmlns:a16="http://schemas.microsoft.com/office/drawing/2014/main" id="{A511E1C1-B20A-4D86-AF2B-FEC4D04FEBF6}"/>
              </a:ext>
            </a:extLst>
          </p:cNvPr>
          <p:cNvSpPr>
            <a:spLocks noGrp="1"/>
          </p:cNvSpPr>
          <p:nvPr/>
        </p:nvSpPr>
        <p:spPr>
          <a:xfrm>
            <a:off x="7953375" y="3286125"/>
            <a:ext cx="2762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2  Which holidays show the greatest average demand?</a:t>
            </a:r>
          </a:p>
        </p:txBody>
      </p:sp>
      <p:sp>
        <p:nvSpPr>
          <p:cNvPr id="9" name="q3">
            <a:extLst>
              <a:ext uri="{FF2B5EF4-FFF2-40B4-BE49-F238E27FC236}">
                <a16:creationId xmlns:a16="http://schemas.microsoft.com/office/drawing/2014/main" id="{A4022103-2357-4EBF-A2A9-73B2B7E841B3}"/>
              </a:ext>
            </a:extLst>
          </p:cNvPr>
          <p:cNvSpPr>
            <a:spLocks noGrp="1"/>
          </p:cNvSpPr>
          <p:nvPr/>
        </p:nvSpPr>
        <p:spPr>
          <a:xfrm>
            <a:off x="7953375" y="4286250"/>
            <a:ext cx="2762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3  How does traffic vary by weather condition?</a:t>
            </a:r>
          </a:p>
        </p:txBody>
      </p:sp>
      <p:sp>
        <p:nvSpPr>
          <p:cNvPr id="10" name="stake">
            <a:extLst>
              <a:ext uri="{FF2B5EF4-FFF2-40B4-BE49-F238E27FC236}">
                <a16:creationId xmlns:a16="http://schemas.microsoft.com/office/drawing/2014/main" id="{050EB3E9-BE3C-4F60-854A-5FE4C087862F}"/>
              </a:ext>
            </a:extLst>
          </p:cNvPr>
          <p:cNvSpPr>
            <a:spLocks noGrp="1"/>
          </p:cNvSpPr>
          <p:nvPr/>
        </p:nvSpPr>
        <p:spPr>
          <a:xfrm>
            <a:off x="552450" y="4476750"/>
            <a:ext cx="61912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56657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6657A"/>
                </a:solidFill>
                <a:latin typeface="Arial"/>
                <a:ea typeface="Arial"/>
                <a:cs typeface="Arial"/>
              </a:rPr>
              <a:t>The dashboard converts a large traffic dataset into patterns that support staffing, congestion planning, and traveler messaging.</a:t>
            </a:r>
          </a:p>
        </p:txBody>
      </p:sp>
    </p:spTree>
    <p:extLst>
      <p:ext uri="{BB962C8B-B14F-4D97-AF65-F5344CB8AC3E}">
        <p14:creationId xmlns:p14="http://schemas.microsoft.com/office/powerpoint/2010/main" val="114398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">
            <a:extLst>
              <a:ext uri="{FF2B5EF4-FFF2-40B4-BE49-F238E27FC236}">
                <a16:creationId xmlns:a16="http://schemas.microsoft.com/office/drawing/2014/main" id="{22B89F79-8DBC-4436-84CC-C904A8BA36D2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Three steps turned raw records into decision-ready views</a:t>
            </a:r>
          </a:p>
        </p:txBody>
      </p:sp>
      <p:sp>
        <p:nvSpPr>
          <p:cNvPr id="2" name="num">
            <a:extLst>
              <a:ext uri="{FF2B5EF4-FFF2-40B4-BE49-F238E27FC236}">
                <a16:creationId xmlns:a16="http://schemas.microsoft.com/office/drawing/2014/main" id="{00AB2AB5-7B02-49E5-A19F-56145E342A0E}"/>
              </a:ext>
            </a:extLst>
          </p:cNvPr>
          <p:cNvSpPr>
            <a:spLocks noGrp="1"/>
          </p:cNvSpPr>
          <p:nvPr/>
        </p:nvSpPr>
        <p:spPr>
          <a:xfrm>
            <a:off x="11239500" y="63246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665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rule">
            <a:extLst>
              <a:ext uri="{FF2B5EF4-FFF2-40B4-BE49-F238E27FC236}">
                <a16:creationId xmlns:a16="http://schemas.microsoft.com/office/drawing/2014/main" id="{D293F492-094A-4779-8C0C-53EAEE1C90E9}"/>
              </a:ext>
            </a:extLst>
          </p:cNvPr>
          <p:cNvSpPr>
            <a:spLocks noGrp="1"/>
          </p:cNvSpPr>
          <p:nvPr/>
        </p:nvSpPr>
        <p:spPr>
          <a:xfrm>
            <a:off x="552450" y="1028700"/>
            <a:ext cx="11087100" cy="19050"/>
          </a:xfrm>
          <a:prstGeom prst="rect">
            <a:avLst/>
          </a:prstGeom>
          <a:solidFill>
            <a:srgbClr val="4E79A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imeline">
            <a:extLst>
              <a:ext uri="{FF2B5EF4-FFF2-40B4-BE49-F238E27FC236}">
                <a16:creationId xmlns:a16="http://schemas.microsoft.com/office/drawing/2014/main" id="{FB2D085D-875E-47C6-ABA3-920CEB45FA2B}"/>
              </a:ext>
            </a:extLst>
          </p:cNvPr>
          <p:cNvSpPr>
            <a:spLocks noGrp="1"/>
          </p:cNvSpPr>
          <p:nvPr/>
        </p:nvSpPr>
        <p:spPr>
          <a:xfrm>
            <a:off x="1047750" y="2990850"/>
            <a:ext cx="9525000" cy="19050"/>
          </a:xfrm>
          <a:prstGeom prst="rect">
            <a:avLst/>
          </a:prstGeom>
          <a:solidFill>
            <a:srgbClr val="CAD4D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dot0">
            <a:extLst>
              <a:ext uri="{FF2B5EF4-FFF2-40B4-BE49-F238E27FC236}">
                <a16:creationId xmlns:a16="http://schemas.microsoft.com/office/drawing/2014/main" id="{83B148EB-992F-46B2-AEEF-A3B6A74DA0EB}"/>
              </a:ext>
            </a:extLst>
          </p:cNvPr>
          <p:cNvSpPr>
            <a:spLocks noGrp="1"/>
          </p:cNvSpPr>
          <p:nvPr/>
        </p:nvSpPr>
        <p:spPr>
          <a:xfrm>
            <a:off x="838200" y="2876550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4E79A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tep0">
            <a:extLst>
              <a:ext uri="{FF2B5EF4-FFF2-40B4-BE49-F238E27FC236}">
                <a16:creationId xmlns:a16="http://schemas.microsoft.com/office/drawing/2014/main" id="{8F918EAF-0819-479C-A1C5-B02CCA6886DC}"/>
              </a:ext>
            </a:extLst>
          </p:cNvPr>
          <p:cNvSpPr>
            <a:spLocks noGrp="1"/>
          </p:cNvSpPr>
          <p:nvPr/>
        </p:nvSpPr>
        <p:spPr>
          <a:xfrm>
            <a:off x="666750" y="1619250"/>
            <a:ext cx="66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4E79A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E79A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lab0">
            <a:extLst>
              <a:ext uri="{FF2B5EF4-FFF2-40B4-BE49-F238E27FC236}">
                <a16:creationId xmlns:a16="http://schemas.microsoft.com/office/drawing/2014/main" id="{D5184330-A277-4017-8CC4-661E052DB9D4}"/>
              </a:ext>
            </a:extLst>
          </p:cNvPr>
          <p:cNvSpPr>
            <a:spLocks noGrp="1"/>
          </p:cNvSpPr>
          <p:nvPr/>
        </p:nvSpPr>
        <p:spPr>
          <a:xfrm>
            <a:off x="666750" y="2095500"/>
            <a:ext cx="2857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PREPARE</a:t>
            </a:r>
          </a:p>
        </p:txBody>
      </p:sp>
      <p:sp>
        <p:nvSpPr>
          <p:cNvPr id="8" name="body0">
            <a:extLst>
              <a:ext uri="{FF2B5EF4-FFF2-40B4-BE49-F238E27FC236}">
                <a16:creationId xmlns:a16="http://schemas.microsoft.com/office/drawing/2014/main" id="{62E7A7EA-445E-4974-9FD2-08EFE4ADAC14}"/>
              </a:ext>
            </a:extLst>
          </p:cNvPr>
          <p:cNvSpPr>
            <a:spLocks noGrp="1"/>
          </p:cNvSpPr>
          <p:nvPr/>
        </p:nvSpPr>
        <p:spPr>
          <a:xfrm>
            <a:off x="666750" y="3333750"/>
            <a:ext cx="29527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665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6657A"/>
                </a:solidFill>
                <a:latin typeface="Arial"/>
                <a:ea typeface="Arial"/>
                <a:cs typeface="Arial"/>
              </a:rPr>
              <a:t>Reviewed date/time, holiday, weather, and traffic-volume fields; organized time dimensions for comparison.</a:t>
            </a:r>
          </a:p>
        </p:txBody>
      </p:sp>
      <p:sp>
        <p:nvSpPr>
          <p:cNvPr id="9" name="dot1">
            <a:extLst>
              <a:ext uri="{FF2B5EF4-FFF2-40B4-BE49-F238E27FC236}">
                <a16:creationId xmlns:a16="http://schemas.microsoft.com/office/drawing/2014/main" id="{5425713A-3F88-458B-BB5C-D69956FDF1C4}"/>
              </a:ext>
            </a:extLst>
          </p:cNvPr>
          <p:cNvSpPr>
            <a:spLocks noGrp="1"/>
          </p:cNvSpPr>
          <p:nvPr/>
        </p:nvSpPr>
        <p:spPr>
          <a:xfrm>
            <a:off x="4505325" y="2876550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F28E2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tep1">
            <a:extLst>
              <a:ext uri="{FF2B5EF4-FFF2-40B4-BE49-F238E27FC236}">
                <a16:creationId xmlns:a16="http://schemas.microsoft.com/office/drawing/2014/main" id="{B39C6BD9-7A1F-4FCC-AE0A-2E27545499CF}"/>
              </a:ext>
            </a:extLst>
          </p:cNvPr>
          <p:cNvSpPr>
            <a:spLocks noGrp="1"/>
          </p:cNvSpPr>
          <p:nvPr/>
        </p:nvSpPr>
        <p:spPr>
          <a:xfrm>
            <a:off x="4333875" y="1619250"/>
            <a:ext cx="66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4E79A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E79A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lab1">
            <a:extLst>
              <a:ext uri="{FF2B5EF4-FFF2-40B4-BE49-F238E27FC236}">
                <a16:creationId xmlns:a16="http://schemas.microsoft.com/office/drawing/2014/main" id="{2FBF64A4-5B65-4C64-A38A-2BFD581A2D1E}"/>
              </a:ext>
            </a:extLst>
          </p:cNvPr>
          <p:cNvSpPr>
            <a:spLocks noGrp="1"/>
          </p:cNvSpPr>
          <p:nvPr/>
        </p:nvSpPr>
        <p:spPr>
          <a:xfrm>
            <a:off x="4333875" y="2095500"/>
            <a:ext cx="2857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ANALYZE</a:t>
            </a:r>
          </a:p>
        </p:txBody>
      </p:sp>
      <p:sp>
        <p:nvSpPr>
          <p:cNvPr id="12" name="body1">
            <a:extLst>
              <a:ext uri="{FF2B5EF4-FFF2-40B4-BE49-F238E27FC236}">
                <a16:creationId xmlns:a16="http://schemas.microsoft.com/office/drawing/2014/main" id="{9369FEF4-91F3-4595-9258-561BD2155438}"/>
              </a:ext>
            </a:extLst>
          </p:cNvPr>
          <p:cNvSpPr>
            <a:spLocks noGrp="1"/>
          </p:cNvSpPr>
          <p:nvPr/>
        </p:nvSpPr>
        <p:spPr>
          <a:xfrm>
            <a:off x="4333875" y="3333750"/>
            <a:ext cx="29527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6657A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56657A"/>
                </a:solidFill>
                <a:latin typeface="Arial"/>
                <a:ea typeface="Arial"/>
                <a:cs typeface="Arial"/>
              </a:rPr>
              <a:t>Focused on average traffic volume by hour, holiday, and primary weather condition.</a:t>
            </a:r>
          </a:p>
        </p:txBody>
      </p:sp>
      <p:sp>
        <p:nvSpPr>
          <p:cNvPr id="13" name="dot2">
            <a:extLst>
              <a:ext uri="{FF2B5EF4-FFF2-40B4-BE49-F238E27FC236}">
                <a16:creationId xmlns:a16="http://schemas.microsoft.com/office/drawing/2014/main" id="{DDAB8BC1-75E5-479D-B0A5-3C662442B903}"/>
              </a:ext>
            </a:extLst>
          </p:cNvPr>
          <p:cNvSpPr>
            <a:spLocks noGrp="1"/>
          </p:cNvSpPr>
          <p:nvPr/>
        </p:nvSpPr>
        <p:spPr>
          <a:xfrm>
            <a:off x="8172450" y="2876550"/>
            <a:ext cx="228600" cy="228600"/>
          </a:xfrm>
          <a:prstGeom prst="roundRect">
            <a:avLst>
              <a:gd name="adj" fmla="val 33333"/>
            </a:avLst>
          </a:prstGeom>
          <a:solidFill>
            <a:srgbClr val="4E79A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tep2">
            <a:extLst>
              <a:ext uri="{FF2B5EF4-FFF2-40B4-BE49-F238E27FC236}">
                <a16:creationId xmlns:a16="http://schemas.microsoft.com/office/drawing/2014/main" id="{D1F75C98-A633-4740-A4EB-2CE45B4FEBDB}"/>
              </a:ext>
            </a:extLst>
          </p:cNvPr>
          <p:cNvSpPr>
            <a:spLocks noGrp="1"/>
          </p:cNvSpPr>
          <p:nvPr/>
        </p:nvSpPr>
        <p:spPr>
          <a:xfrm>
            <a:off x="8001000" y="1619250"/>
            <a:ext cx="66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4E79A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E79A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lab2">
            <a:extLst>
              <a:ext uri="{FF2B5EF4-FFF2-40B4-BE49-F238E27FC236}">
                <a16:creationId xmlns:a16="http://schemas.microsoft.com/office/drawing/2014/main" id="{70D76E01-A8A3-43DE-8CF2-742F1117EA4C}"/>
              </a:ext>
            </a:extLst>
          </p:cNvPr>
          <p:cNvSpPr>
            <a:spLocks noGrp="1"/>
          </p:cNvSpPr>
          <p:nvPr/>
        </p:nvSpPr>
        <p:spPr>
          <a:xfrm>
            <a:off x="8001000" y="2095500"/>
            <a:ext cx="2857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VISUALIZE</a:t>
            </a:r>
          </a:p>
        </p:txBody>
      </p:sp>
      <p:sp>
        <p:nvSpPr>
          <p:cNvPr id="16" name="body2">
            <a:extLst>
              <a:ext uri="{FF2B5EF4-FFF2-40B4-BE49-F238E27FC236}">
                <a16:creationId xmlns:a16="http://schemas.microsoft.com/office/drawing/2014/main" id="{F02D927C-ED48-4F2B-AEA4-5D1445DED605}"/>
              </a:ext>
            </a:extLst>
          </p:cNvPr>
          <p:cNvSpPr>
            <a:spLocks noGrp="1"/>
          </p:cNvSpPr>
          <p:nvPr/>
        </p:nvSpPr>
        <p:spPr>
          <a:xfrm>
            <a:off x="8001000" y="3333750"/>
            <a:ext cx="29527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665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6657A"/>
                </a:solidFill>
                <a:latin typeface="Arial"/>
                <a:ea typeface="Arial"/>
                <a:cs typeface="Arial"/>
              </a:rPr>
              <a:t>Built a calendar-style heatmap, packed bubbles, and a ranked bar chart in Tableau.</a:t>
            </a:r>
          </a:p>
        </p:txBody>
      </p:sp>
      <p:sp>
        <p:nvSpPr>
          <p:cNvPr id="17" name="filter">
            <a:extLst>
              <a:ext uri="{FF2B5EF4-FFF2-40B4-BE49-F238E27FC236}">
                <a16:creationId xmlns:a16="http://schemas.microsoft.com/office/drawing/2014/main" id="{157AE70D-A561-4387-B674-E5D07928C521}"/>
              </a:ext>
            </a:extLst>
          </p:cNvPr>
          <p:cNvSpPr>
            <a:spLocks noGrp="1"/>
          </p:cNvSpPr>
          <p:nvPr/>
        </p:nvSpPr>
        <p:spPr>
          <a:xfrm>
            <a:off x="666750" y="56197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Interactive filters allow the audience to isolate a year and holiday status for focused comparison.</a:t>
            </a:r>
          </a:p>
        </p:txBody>
      </p:sp>
    </p:spTree>
    <p:extLst>
      <p:ext uri="{BB962C8B-B14F-4D97-AF65-F5344CB8AC3E}">
        <p14:creationId xmlns:p14="http://schemas.microsoft.com/office/powerpoint/2010/main" val="941990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">
            <a:extLst>
              <a:ext uri="{FF2B5EF4-FFF2-40B4-BE49-F238E27FC236}">
                <a16:creationId xmlns:a16="http://schemas.microsoft.com/office/drawing/2014/main" id="{6C2A7F00-ABE5-4A68-B0F1-050196999EC1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Holiday and weather patterns stand out</a:t>
            </a:r>
          </a:p>
        </p:txBody>
      </p:sp>
      <p:sp>
        <p:nvSpPr>
          <p:cNvPr id="2" name="num">
            <a:extLst>
              <a:ext uri="{FF2B5EF4-FFF2-40B4-BE49-F238E27FC236}">
                <a16:creationId xmlns:a16="http://schemas.microsoft.com/office/drawing/2014/main" id="{2FFD352E-DB17-4F58-A845-081213DF6E76}"/>
              </a:ext>
            </a:extLst>
          </p:cNvPr>
          <p:cNvSpPr>
            <a:spLocks noGrp="1"/>
          </p:cNvSpPr>
          <p:nvPr/>
        </p:nvSpPr>
        <p:spPr>
          <a:xfrm>
            <a:off x="11239500" y="63246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665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rule">
            <a:extLst>
              <a:ext uri="{FF2B5EF4-FFF2-40B4-BE49-F238E27FC236}">
                <a16:creationId xmlns:a16="http://schemas.microsoft.com/office/drawing/2014/main" id="{E99859B8-1E8F-4951-87E8-05602851E066}"/>
              </a:ext>
            </a:extLst>
          </p:cNvPr>
          <p:cNvSpPr>
            <a:spLocks noGrp="1"/>
          </p:cNvSpPr>
          <p:nvPr/>
        </p:nvSpPr>
        <p:spPr>
          <a:xfrm>
            <a:off x="552450" y="1028700"/>
            <a:ext cx="11087100" cy="19050"/>
          </a:xfrm>
          <a:prstGeom prst="rect">
            <a:avLst/>
          </a:prstGeom>
          <a:solidFill>
            <a:srgbClr val="4E79A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119F6428-624F-4FD9-AF3A-90389324A49F}"/>
              </a:ext>
            </a:extLst>
          </p:cNvPr>
          <p:cNvSpPr>
            <a:spLocks noGrp="1"/>
          </p:cNvSpPr>
          <p:nvPr/>
        </p:nvSpPr>
        <p:spPr>
          <a:xfrm>
            <a:off x="7953375" y="1381125"/>
            <a:ext cx="19050" cy="4286250"/>
          </a:xfrm>
          <a:prstGeom prst="rect">
            <a:avLst/>
          </a:prstGeom>
          <a:solidFill>
            <a:srgbClr val="CAD4D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ins1">
            <a:extLst>
              <a:ext uri="{FF2B5EF4-FFF2-40B4-BE49-F238E27FC236}">
                <a16:creationId xmlns:a16="http://schemas.microsoft.com/office/drawing/2014/main" id="{C06C9074-2E26-4E04-8203-85AB6E090F13}"/>
              </a:ext>
            </a:extLst>
          </p:cNvPr>
          <p:cNvSpPr>
            <a:spLocks noGrp="1"/>
          </p:cNvSpPr>
          <p:nvPr/>
        </p:nvSpPr>
        <p:spPr>
          <a:xfrm>
            <a:off x="8334375" y="1428750"/>
            <a:ext cx="571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4E79A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9A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t1">
            <a:extLst>
              <a:ext uri="{FF2B5EF4-FFF2-40B4-BE49-F238E27FC236}">
                <a16:creationId xmlns:a16="http://schemas.microsoft.com/office/drawing/2014/main" id="{427A87AA-CBB4-44D6-BF73-C9E6879004A9}"/>
              </a:ext>
            </a:extLst>
          </p:cNvPr>
          <p:cNvSpPr>
            <a:spLocks noGrp="1"/>
          </p:cNvSpPr>
          <p:nvPr/>
        </p:nvSpPr>
        <p:spPr>
          <a:xfrm>
            <a:off x="8334375" y="1809750"/>
            <a:ext cx="3048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lang="en-US" sz="1875" b="1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New Years </a:t>
            </a:r>
            <a:r>
              <a:rPr sz="1875" b="1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Day appears as the highest-volume holiday.</a:t>
            </a:r>
          </a:p>
        </p:txBody>
      </p:sp>
      <p:sp>
        <p:nvSpPr>
          <p:cNvPr id="8" name="ins2">
            <a:extLst>
              <a:ext uri="{FF2B5EF4-FFF2-40B4-BE49-F238E27FC236}">
                <a16:creationId xmlns:a16="http://schemas.microsoft.com/office/drawing/2014/main" id="{D99D3843-B330-437F-ADBF-F0B65B1649BF}"/>
              </a:ext>
            </a:extLst>
          </p:cNvPr>
          <p:cNvSpPr>
            <a:spLocks noGrp="1"/>
          </p:cNvSpPr>
          <p:nvPr/>
        </p:nvSpPr>
        <p:spPr>
          <a:xfrm>
            <a:off x="8334375" y="3000375"/>
            <a:ext cx="571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4E79A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9A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2">
            <a:extLst>
              <a:ext uri="{FF2B5EF4-FFF2-40B4-BE49-F238E27FC236}">
                <a16:creationId xmlns:a16="http://schemas.microsoft.com/office/drawing/2014/main" id="{5E3991A8-71FB-494C-90EF-16A4DF55D08A}"/>
              </a:ext>
            </a:extLst>
          </p:cNvPr>
          <p:cNvSpPr>
            <a:spLocks noGrp="1"/>
          </p:cNvSpPr>
          <p:nvPr/>
        </p:nvSpPr>
        <p:spPr>
          <a:xfrm>
            <a:off x="8334375" y="3381375"/>
            <a:ext cx="3048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75" b="1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Clouds and haze lead the weather categories; squall is lowest.</a:t>
            </a:r>
          </a:p>
        </p:txBody>
      </p:sp>
      <p:sp>
        <p:nvSpPr>
          <p:cNvPr id="10" name="ins3">
            <a:extLst>
              <a:ext uri="{FF2B5EF4-FFF2-40B4-BE49-F238E27FC236}">
                <a16:creationId xmlns:a16="http://schemas.microsoft.com/office/drawing/2014/main" id="{C1A6BDA1-8C4B-4280-B369-F9033883590E}"/>
              </a:ext>
            </a:extLst>
          </p:cNvPr>
          <p:cNvSpPr>
            <a:spLocks noGrp="1"/>
          </p:cNvSpPr>
          <p:nvPr/>
        </p:nvSpPr>
        <p:spPr>
          <a:xfrm>
            <a:off x="8334375" y="4810125"/>
            <a:ext cx="571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4E79A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9A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t3">
            <a:extLst>
              <a:ext uri="{FF2B5EF4-FFF2-40B4-BE49-F238E27FC236}">
                <a16:creationId xmlns:a16="http://schemas.microsoft.com/office/drawing/2014/main" id="{E9C2B567-7042-4442-BAE5-63EF538E4F42}"/>
              </a:ext>
            </a:extLst>
          </p:cNvPr>
          <p:cNvSpPr>
            <a:spLocks noGrp="1"/>
          </p:cNvSpPr>
          <p:nvPr/>
        </p:nvSpPr>
        <p:spPr>
          <a:xfrm>
            <a:off x="8334375" y="5191125"/>
            <a:ext cx="3048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Traffic varies substantially by hour and date, supporting time-specific planning.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A24A2CD-E772-4692-04B3-54C2A873DE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931" y="1152525"/>
            <a:ext cx="7417302" cy="556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964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">
            <a:extLst>
              <a:ext uri="{FF2B5EF4-FFF2-40B4-BE49-F238E27FC236}">
                <a16:creationId xmlns:a16="http://schemas.microsoft.com/office/drawing/2014/main" id="{92112B71-145F-448B-8DEC-D9C66E562C64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Target operations to specific traffic conditions</a:t>
            </a:r>
          </a:p>
        </p:txBody>
      </p:sp>
      <p:sp>
        <p:nvSpPr>
          <p:cNvPr id="2" name="num">
            <a:extLst>
              <a:ext uri="{FF2B5EF4-FFF2-40B4-BE49-F238E27FC236}">
                <a16:creationId xmlns:a16="http://schemas.microsoft.com/office/drawing/2014/main" id="{892157EA-DA35-4589-BCFF-EC5AB603C4FC}"/>
              </a:ext>
            </a:extLst>
          </p:cNvPr>
          <p:cNvSpPr>
            <a:spLocks noGrp="1"/>
          </p:cNvSpPr>
          <p:nvPr/>
        </p:nvSpPr>
        <p:spPr>
          <a:xfrm>
            <a:off x="11239500" y="63246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5665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57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rule">
            <a:extLst>
              <a:ext uri="{FF2B5EF4-FFF2-40B4-BE49-F238E27FC236}">
                <a16:creationId xmlns:a16="http://schemas.microsoft.com/office/drawing/2014/main" id="{CF86792B-DD9D-4070-9B26-CB068FCA458E}"/>
              </a:ext>
            </a:extLst>
          </p:cNvPr>
          <p:cNvSpPr>
            <a:spLocks noGrp="1"/>
          </p:cNvSpPr>
          <p:nvPr/>
        </p:nvSpPr>
        <p:spPr>
          <a:xfrm>
            <a:off x="552450" y="1028700"/>
            <a:ext cx="11087100" cy="19050"/>
          </a:xfrm>
          <a:prstGeom prst="rect">
            <a:avLst/>
          </a:prstGeom>
          <a:solidFill>
            <a:srgbClr val="4E79A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big">
            <a:extLst>
              <a:ext uri="{FF2B5EF4-FFF2-40B4-BE49-F238E27FC236}">
                <a16:creationId xmlns:a16="http://schemas.microsoft.com/office/drawing/2014/main" id="{F2B1C0A3-BA91-4C79-B014-E29BAC6F74E5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10287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850" b="1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Plan around predictable demand peaks, then adjust for holiday and weather context.</a:t>
            </a:r>
          </a:p>
        </p:txBody>
      </p:sp>
      <p:sp>
        <p:nvSpPr>
          <p:cNvPr id="5" name="n0">
            <a:extLst>
              <a:ext uri="{FF2B5EF4-FFF2-40B4-BE49-F238E27FC236}">
                <a16:creationId xmlns:a16="http://schemas.microsoft.com/office/drawing/2014/main" id="{299AAC79-F61D-433F-9F7B-85D17A9BE6C8}"/>
              </a:ext>
            </a:extLst>
          </p:cNvPr>
          <p:cNvSpPr>
            <a:spLocks noGrp="1"/>
          </p:cNvSpPr>
          <p:nvPr/>
        </p:nvSpPr>
        <p:spPr>
          <a:xfrm>
            <a:off x="619125" y="3000375"/>
            <a:ext cx="523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4E79A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9A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h0">
            <a:extLst>
              <a:ext uri="{FF2B5EF4-FFF2-40B4-BE49-F238E27FC236}">
                <a16:creationId xmlns:a16="http://schemas.microsoft.com/office/drawing/2014/main" id="{8A222F41-CF6B-4944-A16B-6E3E9B8603C3}"/>
              </a:ext>
            </a:extLst>
          </p:cNvPr>
          <p:cNvSpPr>
            <a:spLocks noGrp="1"/>
          </p:cNvSpPr>
          <p:nvPr/>
        </p:nvSpPr>
        <p:spPr>
          <a:xfrm>
            <a:off x="1381125" y="3000375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75" b="1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Prioritize peak periods</a:t>
            </a:r>
          </a:p>
        </p:txBody>
      </p:sp>
      <p:sp>
        <p:nvSpPr>
          <p:cNvPr id="7" name="b0">
            <a:extLst>
              <a:ext uri="{FF2B5EF4-FFF2-40B4-BE49-F238E27FC236}">
                <a16:creationId xmlns:a16="http://schemas.microsoft.com/office/drawing/2014/main" id="{421ACB30-369C-4C2E-ADBF-EA401D383F43}"/>
              </a:ext>
            </a:extLst>
          </p:cNvPr>
          <p:cNvSpPr>
            <a:spLocks noGrp="1"/>
          </p:cNvSpPr>
          <p:nvPr/>
        </p:nvSpPr>
        <p:spPr>
          <a:xfrm>
            <a:off x="4857750" y="3000375"/>
            <a:ext cx="63341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56657A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56657A"/>
                </a:solidFill>
                <a:latin typeface="Arial"/>
                <a:ea typeface="Arial"/>
                <a:cs typeface="Arial"/>
              </a:rPr>
              <a:t>Align staffing, traffic messaging, and incident readiness with the busiest hours and dates.</a:t>
            </a:r>
          </a:p>
        </p:txBody>
      </p:sp>
      <p:sp>
        <p:nvSpPr>
          <p:cNvPr id="8" name="r0">
            <a:extLst>
              <a:ext uri="{FF2B5EF4-FFF2-40B4-BE49-F238E27FC236}">
                <a16:creationId xmlns:a16="http://schemas.microsoft.com/office/drawing/2014/main" id="{67D796EC-8C86-44A2-83F0-3217A752B15D}"/>
              </a:ext>
            </a:extLst>
          </p:cNvPr>
          <p:cNvSpPr>
            <a:spLocks noGrp="1"/>
          </p:cNvSpPr>
          <p:nvPr/>
        </p:nvSpPr>
        <p:spPr>
          <a:xfrm>
            <a:off x="619125" y="3781425"/>
            <a:ext cx="10572750" cy="9525"/>
          </a:xfrm>
          <a:prstGeom prst="rect">
            <a:avLst/>
          </a:prstGeom>
          <a:solidFill>
            <a:srgbClr val="CAD4D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n1">
            <a:extLst>
              <a:ext uri="{FF2B5EF4-FFF2-40B4-BE49-F238E27FC236}">
                <a16:creationId xmlns:a16="http://schemas.microsoft.com/office/drawing/2014/main" id="{0B1033C7-5F1A-4264-8A66-36FB2A3FB137}"/>
              </a:ext>
            </a:extLst>
          </p:cNvPr>
          <p:cNvSpPr>
            <a:spLocks noGrp="1"/>
          </p:cNvSpPr>
          <p:nvPr/>
        </p:nvSpPr>
        <p:spPr>
          <a:xfrm>
            <a:off x="619125" y="4000500"/>
            <a:ext cx="523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4E79A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9A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h1">
            <a:extLst>
              <a:ext uri="{FF2B5EF4-FFF2-40B4-BE49-F238E27FC236}">
                <a16:creationId xmlns:a16="http://schemas.microsoft.com/office/drawing/2014/main" id="{D0EF1342-6966-4455-BFFE-AD409F01587E}"/>
              </a:ext>
            </a:extLst>
          </p:cNvPr>
          <p:cNvSpPr>
            <a:spLocks noGrp="1"/>
          </p:cNvSpPr>
          <p:nvPr/>
        </p:nvSpPr>
        <p:spPr>
          <a:xfrm>
            <a:off x="1381125" y="400050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Prepare for holiday demand</a:t>
            </a:r>
          </a:p>
        </p:txBody>
      </p:sp>
      <p:sp>
        <p:nvSpPr>
          <p:cNvPr id="11" name="b1">
            <a:extLst>
              <a:ext uri="{FF2B5EF4-FFF2-40B4-BE49-F238E27FC236}">
                <a16:creationId xmlns:a16="http://schemas.microsoft.com/office/drawing/2014/main" id="{A58BE442-0775-4DCD-AAB5-18B30039941C}"/>
              </a:ext>
            </a:extLst>
          </p:cNvPr>
          <p:cNvSpPr>
            <a:spLocks noGrp="1"/>
          </p:cNvSpPr>
          <p:nvPr/>
        </p:nvSpPr>
        <p:spPr>
          <a:xfrm>
            <a:off x="4857750" y="4000500"/>
            <a:ext cx="63341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56657A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56657A"/>
                </a:solidFill>
                <a:latin typeface="Arial"/>
                <a:ea typeface="Arial"/>
                <a:cs typeface="Arial"/>
              </a:rPr>
              <a:t>Use </a:t>
            </a:r>
            <a:r>
              <a:rPr lang="en-US" sz="1575" b="0" dirty="0">
                <a:solidFill>
                  <a:srgbClr val="56657A"/>
                </a:solidFill>
                <a:latin typeface="Arial"/>
                <a:ea typeface="Arial"/>
                <a:cs typeface="Arial"/>
              </a:rPr>
              <a:t>New Years Day </a:t>
            </a:r>
            <a:r>
              <a:rPr sz="1575" b="0" dirty="0">
                <a:solidFill>
                  <a:srgbClr val="56657A"/>
                </a:solidFill>
                <a:latin typeface="Arial"/>
                <a:ea typeface="Arial"/>
                <a:cs typeface="Arial"/>
              </a:rPr>
              <a:t>and other high-volume holidays as planning benchmarks.</a:t>
            </a:r>
          </a:p>
        </p:txBody>
      </p:sp>
      <p:sp>
        <p:nvSpPr>
          <p:cNvPr id="12" name="r1">
            <a:extLst>
              <a:ext uri="{FF2B5EF4-FFF2-40B4-BE49-F238E27FC236}">
                <a16:creationId xmlns:a16="http://schemas.microsoft.com/office/drawing/2014/main" id="{AE9426B8-89D3-4026-9CEB-71583A5D414B}"/>
              </a:ext>
            </a:extLst>
          </p:cNvPr>
          <p:cNvSpPr>
            <a:spLocks noGrp="1"/>
          </p:cNvSpPr>
          <p:nvPr/>
        </p:nvSpPr>
        <p:spPr>
          <a:xfrm>
            <a:off x="619125" y="4781550"/>
            <a:ext cx="10572750" cy="9525"/>
          </a:xfrm>
          <a:prstGeom prst="rect">
            <a:avLst/>
          </a:prstGeom>
          <a:solidFill>
            <a:srgbClr val="CAD4D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n2">
            <a:extLst>
              <a:ext uri="{FF2B5EF4-FFF2-40B4-BE49-F238E27FC236}">
                <a16:creationId xmlns:a16="http://schemas.microsoft.com/office/drawing/2014/main" id="{ECF091BA-DB8E-4102-BB20-E8257A94A452}"/>
              </a:ext>
            </a:extLst>
          </p:cNvPr>
          <p:cNvSpPr>
            <a:spLocks noGrp="1"/>
          </p:cNvSpPr>
          <p:nvPr/>
        </p:nvSpPr>
        <p:spPr>
          <a:xfrm>
            <a:off x="619125" y="5000625"/>
            <a:ext cx="523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4E79A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9A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h2">
            <a:extLst>
              <a:ext uri="{FF2B5EF4-FFF2-40B4-BE49-F238E27FC236}">
                <a16:creationId xmlns:a16="http://schemas.microsoft.com/office/drawing/2014/main" id="{98173028-47BF-4F37-B31B-DEABC214915F}"/>
              </a:ext>
            </a:extLst>
          </p:cNvPr>
          <p:cNvSpPr>
            <a:spLocks noGrp="1"/>
          </p:cNvSpPr>
          <p:nvPr/>
        </p:nvSpPr>
        <p:spPr>
          <a:xfrm>
            <a:off x="1381125" y="5000625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Improve the next analysis</a:t>
            </a:r>
          </a:p>
        </p:txBody>
      </p:sp>
      <p:sp>
        <p:nvSpPr>
          <p:cNvPr id="15" name="b2">
            <a:extLst>
              <a:ext uri="{FF2B5EF4-FFF2-40B4-BE49-F238E27FC236}">
                <a16:creationId xmlns:a16="http://schemas.microsoft.com/office/drawing/2014/main" id="{2C62757D-1059-4B0F-8A02-1D18CD3CFD81}"/>
              </a:ext>
            </a:extLst>
          </p:cNvPr>
          <p:cNvSpPr>
            <a:spLocks noGrp="1"/>
          </p:cNvSpPr>
          <p:nvPr/>
        </p:nvSpPr>
        <p:spPr>
          <a:xfrm>
            <a:off x="4857750" y="5000625"/>
            <a:ext cx="63341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56657A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56657A"/>
                </a:solidFill>
                <a:latin typeface="Arial"/>
                <a:ea typeface="Arial"/>
                <a:cs typeface="Arial"/>
              </a:rPr>
              <a:t>Add roadway direction, location, crashes, and travel speed to explain where congestion creates the greatest impact.</a:t>
            </a:r>
          </a:p>
        </p:txBody>
      </p:sp>
    </p:spTree>
    <p:extLst>
      <p:ext uri="{BB962C8B-B14F-4D97-AF65-F5344CB8AC3E}">
        <p14:creationId xmlns:p14="http://schemas.microsoft.com/office/powerpoint/2010/main" val="101141374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482</Words>
  <Application>Microsoft Macintosh PowerPoint</Application>
  <DocSecurity>0</DocSecurity>
  <PresentationFormat>Widescreen</PresentationFormat>
  <Paragraphs>65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Jahmoy Colquhoun</cp:lastModifiedBy>
  <cp:revision>1</cp:revision>
  <dcterms:created xsi:type="dcterms:W3CDTF">2026-08-08T19:45:16Z</dcterms:created>
  <dcterms:modified xsi:type="dcterms:W3CDTF">2026-08-08T20:09:58Z</dcterms:modified>
</cp:coreProperties>
</file>